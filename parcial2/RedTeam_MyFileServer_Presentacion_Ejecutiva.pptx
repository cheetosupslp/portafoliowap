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TEAM ASSESSMENT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File Server: 1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32004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Evaluación de Seguridad Ofensiva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Informe Ejecutivo para el Consejo Directivo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0" y="6126480"/>
            <a:ext cx="12191695" cy="731520"/>
          </a:xfrm>
          <a:prstGeom prst="rect">
            <a:avLst/>
          </a:prstGeom>
          <a:solidFill>
            <a:srgbClr val="06121C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63093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CONFIDENCIAL  |  USO INTERNO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0" y="63093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Septiembre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C2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|  CONTEXTO DEL ENGAGEMENT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64240" cy="109728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371600"/>
            <a:ext cx="109728" cy="109728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508760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1828800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Evaluar el nivel de exposición y la capacidad de un actor malicioso para comprometer el servidor de archivos corporativo.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606040"/>
            <a:ext cx="11064240" cy="109728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2606040"/>
            <a:ext cx="109728" cy="109728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743200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Alcance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3063240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 objetivo: My File Server: 1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Enfoque en servicios expuestos y vectores de acceso remoto.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840480"/>
            <a:ext cx="11064240" cy="109728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3840480"/>
            <a:ext cx="109728" cy="109728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977640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 del equipo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14400" y="4297680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Analista Red Team contratado por la organización para simular un ataque realista y controlado.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5074920"/>
            <a:ext cx="11064240" cy="109728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5074920"/>
            <a:ext cx="109728" cy="109728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5212080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 general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14400" y="5532120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logró el compromiso total del sistema (acceso root), confirmando un riesgo crítico para la organización.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C2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|  METODOLOGÍA APLICADA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siguió el estándar PTES (Penetration Testing Execution Standard)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2194560" cy="3474720"/>
          </a:xfrm>
          <a:prstGeom prst="roundRect">
            <a:avLst>
              <a:gd name="adj" fmla="val 4167"/>
            </a:avLst>
          </a:prstGeom>
          <a:solidFill>
            <a:srgbClr val="F4F6F8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22860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94360" y="30175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Reconocimiento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" y="3611880"/>
            <a:ext cx="1920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Identificación de hosts y superficie de ataque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88920" y="2011680"/>
            <a:ext cx="2194560" cy="3474720"/>
          </a:xfrm>
          <a:prstGeom prst="roundRect">
            <a:avLst>
              <a:gd name="adj" fmla="val 4167"/>
            </a:avLst>
          </a:prstGeom>
          <a:solidFill>
            <a:srgbClr val="F4F6F8"/>
          </a:solidFill>
          <a:ln/>
        </p:spPr>
      </p:sp>
      <p:sp>
        <p:nvSpPr>
          <p:cNvPr id="10" name="Text 8"/>
          <p:cNvSpPr/>
          <p:nvPr/>
        </p:nvSpPr>
        <p:spPr>
          <a:xfrm>
            <a:off x="2926080" y="22860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926080" y="30175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Enumeración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926080" y="3611880"/>
            <a:ext cx="1920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Análisis de servicios y exposición de información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120640" y="2011680"/>
            <a:ext cx="2194560" cy="3474720"/>
          </a:xfrm>
          <a:prstGeom prst="roundRect">
            <a:avLst>
              <a:gd name="adj" fmla="val 4167"/>
            </a:avLst>
          </a:prstGeom>
          <a:solidFill>
            <a:srgbClr val="F4F6F8"/>
          </a:solidFill>
          <a:ln/>
        </p:spPr>
      </p:sp>
      <p:sp>
        <p:nvSpPr>
          <p:cNvPr id="14" name="Text 12"/>
          <p:cNvSpPr/>
          <p:nvPr/>
        </p:nvSpPr>
        <p:spPr>
          <a:xfrm>
            <a:off x="5257800" y="22860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5257800" y="30175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Explotación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257800" y="3611880"/>
            <a:ext cx="1920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Obtención de acceso inicial al sistema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452360" y="2011680"/>
            <a:ext cx="2194560" cy="3474720"/>
          </a:xfrm>
          <a:prstGeom prst="roundRect">
            <a:avLst>
              <a:gd name="adj" fmla="val 4167"/>
            </a:avLst>
          </a:prstGeom>
          <a:solidFill>
            <a:srgbClr val="F4F6F8"/>
          </a:solidFill>
          <a:ln/>
        </p:spPr>
      </p:sp>
      <p:sp>
        <p:nvSpPr>
          <p:cNvPr id="18" name="Text 16"/>
          <p:cNvSpPr/>
          <p:nvPr/>
        </p:nvSpPr>
        <p:spPr>
          <a:xfrm>
            <a:off x="7589520" y="22860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7589520" y="30175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Escalada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589520" y="3611880"/>
            <a:ext cx="1920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Elevación de privilegios hasta control total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784080" y="2011680"/>
            <a:ext cx="2194560" cy="3474720"/>
          </a:xfrm>
          <a:prstGeom prst="roundRect">
            <a:avLst>
              <a:gd name="adj" fmla="val 4167"/>
            </a:avLst>
          </a:prstGeom>
          <a:solidFill>
            <a:srgbClr val="0B1C2C"/>
          </a:solidFill>
          <a:ln/>
        </p:spPr>
      </p:sp>
      <p:sp>
        <p:nvSpPr>
          <p:cNvPr id="22" name="Text 20"/>
          <p:cNvSpPr/>
          <p:nvPr/>
        </p:nvSpPr>
        <p:spPr>
          <a:xfrm>
            <a:off x="9921240" y="22860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9921240" y="30175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Análisis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921240" y="3611880"/>
            <a:ext cx="1920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Evaluación de impacto y recomendaciones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C2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|  NIVEL GENERAL DEL RIESGO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0" y="1463040"/>
            <a:ext cx="5760720" cy="1645920"/>
          </a:xfrm>
          <a:prstGeom prst="roundRect">
            <a:avLst>
              <a:gd name="adj" fmla="val 5556"/>
            </a:avLst>
          </a:prstGeom>
          <a:solidFill>
            <a:srgbClr val="7F1D1D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0" y="1737360"/>
            <a:ext cx="5760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RIESGO CRÍTICO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200400" y="2423160"/>
            <a:ext cx="5760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ECA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sistema fue completamente comprometido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3566160"/>
            <a:ext cx="3474720" cy="2194560"/>
          </a:xfrm>
          <a:prstGeom prst="roundRect">
            <a:avLst>
              <a:gd name="adj" fmla="val 3333"/>
            </a:avLst>
          </a:prstGeom>
          <a:solidFill>
            <a:srgbClr val="F4F6F8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8404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Confidencialidad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280160" y="4572000"/>
            <a:ext cx="2377440" cy="640080"/>
          </a:xfrm>
          <a:prstGeom prst="roundRect">
            <a:avLst>
              <a:gd name="adj" fmla="val 8571"/>
            </a:avLst>
          </a:prstGeom>
          <a:solidFill>
            <a:srgbClr val="7F1D1D"/>
          </a:solidFill>
          <a:ln/>
        </p:spPr>
      </p:sp>
      <p:sp>
        <p:nvSpPr>
          <p:cNvPr id="10" name="Text 8"/>
          <p:cNvSpPr/>
          <p:nvPr/>
        </p:nvSpPr>
        <p:spPr>
          <a:xfrm>
            <a:off x="1280160" y="46634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CRÍTICO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480560" y="3566160"/>
            <a:ext cx="3474720" cy="2194560"/>
          </a:xfrm>
          <a:prstGeom prst="roundRect">
            <a:avLst>
              <a:gd name="adj" fmla="val 3333"/>
            </a:avLst>
          </a:prstGeom>
          <a:solidFill>
            <a:srgbClr val="F4F6F8"/>
          </a:solidFill>
          <a:ln/>
        </p:spPr>
      </p:sp>
      <p:sp>
        <p:nvSpPr>
          <p:cNvPr id="12" name="Text 10"/>
          <p:cNvSpPr/>
          <p:nvPr/>
        </p:nvSpPr>
        <p:spPr>
          <a:xfrm>
            <a:off x="4663440" y="38404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Integridad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029200" y="4572000"/>
            <a:ext cx="2377440" cy="640080"/>
          </a:xfrm>
          <a:prstGeom prst="roundRect">
            <a:avLst>
              <a:gd name="adj" fmla="val 8571"/>
            </a:avLst>
          </a:prstGeom>
          <a:solidFill>
            <a:srgbClr val="7F1D1D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0" y="46634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CRÍTICO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8229600" y="3566160"/>
            <a:ext cx="3474720" cy="2194560"/>
          </a:xfrm>
          <a:prstGeom prst="roundRect">
            <a:avLst>
              <a:gd name="adj" fmla="val 3333"/>
            </a:avLst>
          </a:prstGeom>
          <a:solidFill>
            <a:srgbClr val="F4F6F8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0" y="38404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Disponibilidad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778240" y="4572000"/>
            <a:ext cx="2377440" cy="640080"/>
          </a:xfrm>
          <a:prstGeom prst="roundRect">
            <a:avLst>
              <a:gd name="adj" fmla="val 8571"/>
            </a:avLst>
          </a:prstGeom>
          <a:solidFill>
            <a:srgbClr val="9A3412"/>
          </a:solidFill>
          <a:ln/>
        </p:spPr>
      </p:sp>
      <p:sp>
        <p:nvSpPr>
          <p:cNvPr id="18" name="Text 16"/>
          <p:cNvSpPr/>
          <p:nvPr/>
        </p:nvSpPr>
        <p:spPr>
          <a:xfrm>
            <a:off x="8778240" y="46634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ALTO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C2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|  HALLAZGOS CRÍTICOS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1247120" cy="114300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280160"/>
            <a:ext cx="109728" cy="1143000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4173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V-01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011680" y="141732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Credenciales expuestas en texto plano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601200" y="1463040"/>
            <a:ext cx="1737360" cy="365760"/>
          </a:xfrm>
          <a:prstGeom prst="roundRect">
            <a:avLst>
              <a:gd name="adj" fmla="val 12500"/>
            </a:avLst>
          </a:prstGeom>
          <a:solidFill>
            <a:srgbClr val="9A3412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0" y="148132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187452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identificó un archivo público que contenía contraseñas del sistema.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560320"/>
            <a:ext cx="11247120" cy="114300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2560320"/>
            <a:ext cx="109728" cy="1143000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6974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V-02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011680" y="269748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anónimo a servicios de archivos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601200" y="2743200"/>
            <a:ext cx="1737360" cy="365760"/>
          </a:xfrm>
          <a:prstGeom prst="roundRect">
            <a:avLst>
              <a:gd name="adj" fmla="val 12500"/>
            </a:avLst>
          </a:prstGeom>
          <a:solidFill>
            <a:srgbClr val="9A3412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0" y="276148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" y="315468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Servicios FTP y SMB permitían acceso y escritura sin autenticación.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3840480"/>
            <a:ext cx="11247120" cy="114300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" y="3840480"/>
            <a:ext cx="109728" cy="1143000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39776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V-03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011680" y="397764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Configuración deficiente de acceso remoto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9601200" y="4023360"/>
            <a:ext cx="1737360" cy="365760"/>
          </a:xfrm>
          <a:prstGeom prst="roundRect">
            <a:avLst>
              <a:gd name="adj" fmla="val 12500"/>
            </a:avLst>
          </a:prstGeom>
          <a:solidFill>
            <a:srgbClr val="9A3412"/>
          </a:solidFill>
          <a:ln/>
        </p:spPr>
      </p:sp>
      <p:sp>
        <p:nvSpPr>
          <p:cNvPr id="23" name="Text 21"/>
          <p:cNvSpPr/>
          <p:nvPr/>
        </p:nvSpPr>
        <p:spPr>
          <a:xfrm>
            <a:off x="9601200" y="404164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ALTA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22960" y="443484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 posible inyectar claves de autenticación y obtener acceso remoto.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57200" y="5120640"/>
            <a:ext cx="11247120" cy="114300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26" name="Shape 24"/>
          <p:cNvSpPr/>
          <p:nvPr/>
        </p:nvSpPr>
        <p:spPr>
          <a:xfrm>
            <a:off x="457200" y="5120640"/>
            <a:ext cx="109728" cy="114300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" y="52578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V-04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011680" y="525780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Vulnerabilidad de escalada de privilegios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9601200" y="5303520"/>
            <a:ext cx="1737360" cy="365760"/>
          </a:xfrm>
          <a:prstGeom prst="roundRect">
            <a:avLst>
              <a:gd name="adj" fmla="val 12500"/>
            </a:avLst>
          </a:prstGeom>
          <a:solidFill>
            <a:srgbClr val="7F1D1D"/>
          </a:solidFill>
          <a:ln/>
        </p:spPr>
      </p:sp>
      <p:sp>
        <p:nvSpPr>
          <p:cNvPr id="30" name="Text 28"/>
          <p:cNvSpPr/>
          <p:nvPr/>
        </p:nvSpPr>
        <p:spPr>
          <a:xfrm>
            <a:off x="9601200" y="532180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CRÍTICA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22960" y="571500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sistema permitía elevar privilegios hasta obtener control total (root).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C2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|  ESCENARIO DE IMPACTO EMPRESARIAL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podría ocurrir si un atacante real explotara estas vulnerabilidades?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5577840" cy="1965960"/>
          </a:xfrm>
          <a:prstGeom prst="roundRect">
            <a:avLst>
              <a:gd name="adj" fmla="val 3721"/>
            </a:avLst>
          </a:prstGeom>
          <a:solidFill>
            <a:srgbClr val="F4F6F8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10312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 de información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651760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archivos corporativos, datos de clientes o información confidencial almacenada en el servidor.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09360" y="1828800"/>
            <a:ext cx="5577840" cy="1965960"/>
          </a:xfrm>
          <a:prstGeom prst="roundRect">
            <a:avLst>
              <a:gd name="adj" fmla="val 3721"/>
            </a:avLst>
          </a:prstGeom>
          <a:solidFill>
            <a:srgbClr val="F4F6F8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0" y="210312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Modificación de datos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583680" y="2651760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Alteración o eliminación de archivos críticos, afectando la integridad de la información empresarial.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4023360"/>
            <a:ext cx="5577840" cy="1965960"/>
          </a:xfrm>
          <a:prstGeom prst="roundRect">
            <a:avLst>
              <a:gd name="adj" fmla="val 3721"/>
            </a:avLst>
          </a:prstGeom>
          <a:solidFill>
            <a:srgbClr val="F4F6F8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429768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Punto de pivote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31520" y="4846320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Uso del servidor comprometido como punto de entrada para atacar otros sistemas de la red interna.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309360" y="4023360"/>
            <a:ext cx="5577840" cy="1965960"/>
          </a:xfrm>
          <a:prstGeom prst="roundRect">
            <a:avLst>
              <a:gd name="adj" fmla="val 3721"/>
            </a:avLst>
          </a:prstGeom>
          <a:solidFill>
            <a:srgbClr val="F4F6F8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0" y="429768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Interrupción operativa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583680" y="4846320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Posible afectación de la disponibilidad del servicio de archivos, impactando la operación diaria.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C2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|  MATRIZ DE RIESGO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Probabilidad × Impacto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2834640" cy="548640"/>
          </a:xfrm>
          <a:prstGeom prst="rect">
            <a:avLst/>
          </a:prstGeom>
          <a:solidFill>
            <a:srgbClr val="0B1C2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82880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Hallazgo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37560" y="1737360"/>
            <a:ext cx="2834640" cy="548640"/>
          </a:xfrm>
          <a:prstGeom prst="rect">
            <a:avLst/>
          </a:prstGeom>
          <a:solidFill>
            <a:srgbClr val="0B1C2C"/>
          </a:solidFill>
          <a:ln/>
        </p:spPr>
      </p:sp>
      <p:sp>
        <p:nvSpPr>
          <p:cNvPr id="8" name="Text 6"/>
          <p:cNvSpPr/>
          <p:nvPr/>
        </p:nvSpPr>
        <p:spPr>
          <a:xfrm>
            <a:off x="3337560" y="182880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Probabilidad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737360"/>
            <a:ext cx="2834640" cy="548640"/>
          </a:xfrm>
          <a:prstGeom prst="rect">
            <a:avLst/>
          </a:prstGeom>
          <a:solidFill>
            <a:srgbClr val="0B1C2C"/>
          </a:solidFill>
          <a:ln/>
        </p:spPr>
      </p:sp>
      <p:sp>
        <p:nvSpPr>
          <p:cNvPr id="10" name="Text 8"/>
          <p:cNvSpPr/>
          <p:nvPr/>
        </p:nvSpPr>
        <p:spPr>
          <a:xfrm>
            <a:off x="6217920" y="182880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098280" y="1737360"/>
            <a:ext cx="2834640" cy="548640"/>
          </a:xfrm>
          <a:prstGeom prst="rect">
            <a:avLst/>
          </a:prstGeom>
          <a:solidFill>
            <a:srgbClr val="0B1C2C"/>
          </a:solidFill>
          <a:ln/>
        </p:spPr>
      </p:sp>
      <p:sp>
        <p:nvSpPr>
          <p:cNvPr id="12" name="Text 10"/>
          <p:cNvSpPr/>
          <p:nvPr/>
        </p:nvSpPr>
        <p:spPr>
          <a:xfrm>
            <a:off x="9098280" y="182880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Riesgo resultante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331720"/>
            <a:ext cx="2834640" cy="77724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51460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Credenciales expuestas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337560" y="2331720"/>
            <a:ext cx="2834640" cy="77724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6" name="Text 14"/>
          <p:cNvSpPr/>
          <p:nvPr/>
        </p:nvSpPr>
        <p:spPr>
          <a:xfrm>
            <a:off x="3337560" y="251460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Alta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217920" y="2331720"/>
            <a:ext cx="2834640" cy="77724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8" name="Text 16"/>
          <p:cNvSpPr/>
          <p:nvPr/>
        </p:nvSpPr>
        <p:spPr>
          <a:xfrm>
            <a:off x="6217920" y="251460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Alto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098280" y="2331720"/>
            <a:ext cx="2834640" cy="77724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20" name="Text 18"/>
          <p:cNvSpPr/>
          <p:nvPr/>
        </p:nvSpPr>
        <p:spPr>
          <a:xfrm>
            <a:off x="9098280" y="251460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CRÍTICO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3154680"/>
            <a:ext cx="283464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33756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anónimo FTP/SMB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337560" y="3154680"/>
            <a:ext cx="283464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3337560" y="333756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Alta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217920" y="3154680"/>
            <a:ext cx="283464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6217920" y="333756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Alto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9098280" y="3154680"/>
            <a:ext cx="283464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9098280" y="333756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CRÍTICO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57200" y="3977640"/>
            <a:ext cx="2834640" cy="77724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416052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Inyección de clave SSH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3337560" y="3977640"/>
            <a:ext cx="2834640" cy="77724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32" name="Text 30"/>
          <p:cNvSpPr/>
          <p:nvPr/>
        </p:nvSpPr>
        <p:spPr>
          <a:xfrm>
            <a:off x="3337560" y="416052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217920" y="3977640"/>
            <a:ext cx="2834640" cy="77724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34" name="Text 32"/>
          <p:cNvSpPr/>
          <p:nvPr/>
        </p:nvSpPr>
        <p:spPr>
          <a:xfrm>
            <a:off x="6217920" y="416052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Alto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9098280" y="3977640"/>
            <a:ext cx="2834640" cy="77724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36" name="Text 34"/>
          <p:cNvSpPr/>
          <p:nvPr/>
        </p:nvSpPr>
        <p:spPr>
          <a:xfrm>
            <a:off x="9098280" y="416052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ALTO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457200" y="4800600"/>
            <a:ext cx="283464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457200" y="498348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Escalada de privilegios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337560" y="4800600"/>
            <a:ext cx="283464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Text 38"/>
          <p:cNvSpPr/>
          <p:nvPr/>
        </p:nvSpPr>
        <p:spPr>
          <a:xfrm>
            <a:off x="3337560" y="498348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Alta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6217920" y="4800600"/>
            <a:ext cx="283464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2" name="Text 40"/>
          <p:cNvSpPr/>
          <p:nvPr/>
        </p:nvSpPr>
        <p:spPr>
          <a:xfrm>
            <a:off x="6217920" y="498348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Crítico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9098280" y="4800600"/>
            <a:ext cx="283464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4" name="Text 42"/>
          <p:cNvSpPr/>
          <p:nvPr/>
        </p:nvSpPr>
        <p:spPr>
          <a:xfrm>
            <a:off x="9098280" y="498348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CRÍTICO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C2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 |  RECOMENDACIONES ESTRATÉGICAS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11247120" cy="91440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463040"/>
            <a:ext cx="1554480" cy="457200"/>
          </a:xfrm>
          <a:prstGeom prst="roundRect">
            <a:avLst>
              <a:gd name="adj" fmla="val 10000"/>
            </a:avLst>
          </a:prstGeom>
          <a:solidFill>
            <a:srgbClr val="7F1D1D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087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CRÍTICA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468880" y="1344168"/>
            <a:ext cx="8961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Actualizar el sistema operativo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468880" y="1691640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Eliminar la vulnerabilidad de escalada de privilegios presente en el núcleo del sistema.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240280"/>
            <a:ext cx="11247120" cy="91440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2468880"/>
            <a:ext cx="1554480" cy="457200"/>
          </a:xfrm>
          <a:prstGeom prst="roundRect">
            <a:avLst>
              <a:gd name="adj" fmla="val 10000"/>
            </a:avLst>
          </a:prstGeom>
          <a:solidFill>
            <a:srgbClr val="7F1D1D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5146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CRÍTICA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468880" y="2350008"/>
            <a:ext cx="8961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Eliminar exposición de credenciales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468880" y="2697480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Retirar cualquier archivo o recurso que contenga contraseñas o información sensible en texto plano.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246120"/>
            <a:ext cx="11247120" cy="91440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" y="3474720"/>
            <a:ext cx="1554480" cy="457200"/>
          </a:xfrm>
          <a:prstGeom prst="roundRect">
            <a:avLst>
              <a:gd name="adj" fmla="val 10000"/>
            </a:avLst>
          </a:prstGeom>
          <a:solidFill>
            <a:srgbClr val="9A3412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5204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468880" y="3355848"/>
            <a:ext cx="8961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Restringir accesos anónimos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468880" y="3703320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Deshabilitar el acceso no autenticado a los servicios de transferencia y compartición de archivos.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4251960"/>
            <a:ext cx="11247120" cy="91440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" y="4480560"/>
            <a:ext cx="1554480" cy="457200"/>
          </a:xfrm>
          <a:prstGeom prst="roundRect">
            <a:avLst>
              <a:gd name="adj" fmla="val 10000"/>
            </a:avLst>
          </a:prstGeom>
          <a:solidFill>
            <a:srgbClr val="9A3412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5262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ALTA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468880" y="4361688"/>
            <a:ext cx="8961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Fortalecer la autenticación remota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2468880" y="4709160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Revisar y endurecer la configuración de acceso remoto para prevenir la inyección de claves.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5257800"/>
            <a:ext cx="11247120" cy="91440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25" name="Shape 23"/>
          <p:cNvSpPr/>
          <p:nvPr/>
        </p:nvSpPr>
        <p:spPr>
          <a:xfrm>
            <a:off x="640080" y="5486400"/>
            <a:ext cx="1554480" cy="457200"/>
          </a:xfrm>
          <a:prstGeom prst="roundRect">
            <a:avLst>
              <a:gd name="adj" fmla="val 10000"/>
            </a:avLst>
          </a:prstGeom>
          <a:solidFill>
            <a:srgbClr val="1E3A5F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55321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468880" y="5367528"/>
            <a:ext cx="8961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Segmentación y monitoreo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2468880" y="5715000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Implementar segmentación de red y controles de monitoreo sobre los servicios críticos.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C2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 |  ROADMAP DE REMEDIACIÓN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657600" cy="4754880"/>
          </a:xfrm>
          <a:prstGeom prst="roundRect">
            <a:avLst>
              <a:gd name="adj" fmla="val 2500"/>
            </a:avLst>
          </a:prstGeom>
          <a:solidFill>
            <a:srgbClr val="F4F6F8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371600"/>
            <a:ext cx="3657600" cy="137160"/>
          </a:xfrm>
          <a:prstGeom prst="rect">
            <a:avLst/>
          </a:prstGeom>
          <a:solidFill>
            <a:srgbClr val="7F1D1D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7373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Corto plazo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21945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– 15 días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292608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Eliminar archivos con credenciales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356616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Deshabilitar accesos anónimos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420624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Restringir permisos de escritura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297680" y="1371600"/>
            <a:ext cx="3657600" cy="4754880"/>
          </a:xfrm>
          <a:prstGeom prst="roundRect">
            <a:avLst>
              <a:gd name="adj" fmla="val 2500"/>
            </a:avLst>
          </a:prstGeom>
          <a:solidFill>
            <a:srgbClr val="F4F6F8"/>
          </a:solidFill>
          <a:ln/>
        </p:spPr>
      </p:sp>
      <p:sp>
        <p:nvSpPr>
          <p:cNvPr id="12" name="Shape 10"/>
          <p:cNvSpPr/>
          <p:nvPr/>
        </p:nvSpPr>
        <p:spPr>
          <a:xfrm>
            <a:off x="4297680" y="1371600"/>
            <a:ext cx="3657600" cy="137160"/>
          </a:xfrm>
          <a:prstGeom prst="rect">
            <a:avLst/>
          </a:prstGeom>
          <a:solidFill>
            <a:srgbClr val="9A3412"/>
          </a:solidFill>
          <a:ln/>
        </p:spPr>
      </p:sp>
      <p:sp>
        <p:nvSpPr>
          <p:cNvPr id="13" name="Text 11"/>
          <p:cNvSpPr/>
          <p:nvPr/>
        </p:nvSpPr>
        <p:spPr>
          <a:xfrm>
            <a:off x="4526280" y="17373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Mediano plazo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26280" y="21945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– 45 días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26280" y="292608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Actualizar el sistema operativo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26280" y="356616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Revisar configuración SSH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26280" y="420624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Implementar controles de acceso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138160" y="1371600"/>
            <a:ext cx="3657600" cy="4754880"/>
          </a:xfrm>
          <a:prstGeom prst="roundRect">
            <a:avLst>
              <a:gd name="adj" fmla="val 2500"/>
            </a:avLst>
          </a:prstGeom>
          <a:solidFill>
            <a:srgbClr val="F4F6F8"/>
          </a:solidFill>
          <a:ln/>
        </p:spPr>
      </p:sp>
      <p:sp>
        <p:nvSpPr>
          <p:cNvPr id="19" name="Shape 17"/>
          <p:cNvSpPr/>
          <p:nvPr/>
        </p:nvSpPr>
        <p:spPr>
          <a:xfrm>
            <a:off x="8138160" y="1371600"/>
            <a:ext cx="3657600" cy="1371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0" name="Text 18"/>
          <p:cNvSpPr/>
          <p:nvPr/>
        </p:nvSpPr>
        <p:spPr>
          <a:xfrm>
            <a:off x="8366760" y="17373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Largo plazo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366760" y="21945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 – 90 días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366760" y="292608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Segmentación de red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366760" y="356616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Monitoreo continuo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366760" y="420624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Programa de gestión de parches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 |  CONCLUSIÓN EJECUTIVA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servidor de archivos evaluado presenta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nivel de riesgo crítico para la organización.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" y="265176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logró el compromiso total del sistema mediante vulnerabilidades conocidas y configuraciones deficientes. La remediación prioritaria de los hallazgos críticos reducirá de forma significativa la exposición de la organización.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4023360"/>
            <a:ext cx="10698480" cy="1463040"/>
          </a:xfrm>
          <a:prstGeom prst="roundRect">
            <a:avLst>
              <a:gd name="adj" fmla="val 5000"/>
            </a:avLst>
          </a:prstGeom>
          <a:solidFill>
            <a:srgbClr val="0F2A40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42062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Acción recomendada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46634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Priorizar la actualización del sistema y la eliminación de accesos anónimos y credenciales expuestas en un plazo no mayor a 15 días.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62179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CONFIDENCIAL  |  Red Team Assessment  |  Septiembre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Red Team Report - My File Server 1</dc:title>
  <dc:subject>PptxGenJS Presentation</dc:subject>
  <dc:creator>Red Team Analyst</dc:creator>
  <cp:lastModifiedBy>Red Team Analyst</cp:lastModifiedBy>
  <cp:revision>1</cp:revision>
  <dcterms:created xsi:type="dcterms:W3CDTF">2026-10-02T01:17:13Z</dcterms:created>
  <dcterms:modified xsi:type="dcterms:W3CDTF">2026-10-02T01:17:13Z</dcterms:modified>
</cp:coreProperties>
</file>